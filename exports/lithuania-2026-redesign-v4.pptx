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47770"/>
            <a:ext cx="10820370" cy="129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Lietuvos gyventojų nuomonės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apie baltarusius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3022641"/>
            <a:ext cx="1082037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Беларусы ў вачах жыхароў Літвы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4114800"/>
            <a:ext cx="108203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Sociologinio tyrimo pristatymas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4572000"/>
            <a:ext cx="1082037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Сацыялагічнае даследаванне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09630"/>
            <a:ext cx="10820370" cy="482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TYRIMO METODIKA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346180" y="152403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6180" y="198123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11620" y="1524030"/>
            <a:ext cx="0" cy="45720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1676370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2820" y="1574780"/>
            <a:ext cx="180338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LAIKAS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38630" y="1574780"/>
            <a:ext cx="716277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 01 19–29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346180" y="284479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11620" y="1981230"/>
            <a:ext cx="0" cy="863559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2336841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2820" y="2031980"/>
            <a:ext cx="180338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TIKSLAS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38630" y="2031980"/>
            <a:ext cx="71627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Išsiaiškinti 2020 m. sprendimo dėl atvykimo vertinimą, nacionalinio saugumo grėsmių ir ekonominio indėlio suvokimą, taip pat režimo legitimumo ir opozicijos lyderės žinomumo vertinimus.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346180" y="330199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11620" y="2844790"/>
            <a:ext cx="0" cy="45720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2997220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2820" y="2895630"/>
            <a:ext cx="180338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TIKSLINĖ GRUPĖ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38630" y="2895630"/>
            <a:ext cx="716277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Šalies gyventojai nuo 18 iki 75 metų amžiaus.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1346180" y="375919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11620" y="3301990"/>
            <a:ext cx="0" cy="45720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3454420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2820" y="3352830"/>
            <a:ext cx="180338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38630" y="3352830"/>
            <a:ext cx="716277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Tyrimo metu buvo apklausta 1017 respondentų.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1346180" y="421639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11620" y="3759190"/>
            <a:ext cx="0" cy="45720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0200" y="3911620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82820" y="3810030"/>
            <a:ext cx="180338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ATRANKA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38630" y="3810030"/>
            <a:ext cx="716277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Tyrime naudotas kvotinės atrankos metodas.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1346180" y="467359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11620" y="4216390"/>
            <a:ext cx="0" cy="45720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4368820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82820" y="4267230"/>
            <a:ext cx="180338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LOKACIJA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038630" y="4267230"/>
            <a:ext cx="716277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Visa šalies teritorija.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1346180" y="541023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11620" y="4673590"/>
            <a:ext cx="0" cy="736641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00200" y="4965741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82820" y="4724430"/>
            <a:ext cx="18033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APKLAUSOS METODAS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038630" y="4724430"/>
            <a:ext cx="716277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Kombinuotas metodas: CATI (Computer Assisted Telephone Interview) ir CAWI (Computer Assisted WEB Interview).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1346180" y="637538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11620" y="5410230"/>
            <a:ext cx="0" cy="965241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00200" y="5816590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82820" y="5460980"/>
            <a:ext cx="1803380" cy="86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DUOMENŲ ANALIZĖ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038630" y="5460980"/>
            <a:ext cx="7162770" cy="86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Analizė atlikta SPSS/PC programine įranga. Ataskaitoje pateikiami bendrieji atsakymų pasiskirstymai (procentais) ir pasiskirstymai pagal socialines-demografines charakteristikas (žr. priedus).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09630"/>
            <a:ext cx="10820370" cy="482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МЕТАДАЛОГІЯ ДАСЛЕДАВАННЯ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346180" y="152403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6180" y="198123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11620" y="1524030"/>
            <a:ext cx="0" cy="45720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1676370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2820" y="1574780"/>
            <a:ext cx="180338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ЧАС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38630" y="1574780"/>
            <a:ext cx="716277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 01 19–29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346180" y="284479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11620" y="1981230"/>
            <a:ext cx="0" cy="863559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2336841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2820" y="2031980"/>
            <a:ext cx="180338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МЭТА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38630" y="2031980"/>
            <a:ext cx="71627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Вызначыць ацэнкі рашэння ўезду ў 2020 годзе, уяўленне нацыянальных пагроз бяспецы і эканамічнага ўнёску, а таксама ацэнкі легітымнасці рэжыму і вядомасці апазіцыйнага лідара.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346180" y="330199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11620" y="2844790"/>
            <a:ext cx="0" cy="45720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2997220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2820" y="2895630"/>
            <a:ext cx="180338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МЭТАВАЯ ГРУПА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38630" y="2895630"/>
            <a:ext cx="716277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Жыхары краіны ва ўзросце ад 18 да 75 гадоў.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1346180" y="375919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11620" y="3301990"/>
            <a:ext cx="0" cy="45720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3454420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82820" y="3352830"/>
            <a:ext cx="180338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ВЫБАРКА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38630" y="3352830"/>
            <a:ext cx="716277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Падчас даследавання было апытана 1017 рэспандэнтаў.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1346180" y="421639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11620" y="3759190"/>
            <a:ext cx="0" cy="45720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0200" y="3911620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82820" y="3810030"/>
            <a:ext cx="180338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АДБОР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38630" y="3810030"/>
            <a:ext cx="716277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Ужываўся квотны метад адбору.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1346180" y="467359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11620" y="4216390"/>
            <a:ext cx="0" cy="45720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0200" y="4368820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82820" y="4267230"/>
            <a:ext cx="180338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ЛАКАЦЫЯ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038630" y="4267230"/>
            <a:ext cx="7162770" cy="35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Тэрыторыя ўсёй краіны.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1346180" y="541023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11620" y="4673590"/>
            <a:ext cx="0" cy="736641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00200" y="4965741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82820" y="4724430"/>
            <a:ext cx="180338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МЕТАД АПЫТАННЯ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038630" y="4724430"/>
            <a:ext cx="7162770" cy="6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Камбінаваны метад: CATI (Computer Assisted Telephone Interview) і CAWI (Computer Assisted WEB Interview).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1346180" y="6375380"/>
            <a:ext cx="9931390" cy="0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11620" y="5410230"/>
            <a:ext cx="0" cy="965241"/>
          </a:xfrm>
          <a:prstGeom prst="line">
            <a:avLst/>
          </a:prstGeom>
          <a:noFill/>
          <a:ln w="10160">
            <a:solidFill>
              <a:srgbClr val="CED8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00200" y="5816590"/>
            <a:ext cx="152430" cy="15243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82820" y="5460980"/>
            <a:ext cx="1803380" cy="86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АНАЛІЗ ДАДЗЕНЫХ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038630" y="5460980"/>
            <a:ext cx="7162770" cy="86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Аналіз праведзены ў праграме SPSS/PC. У справаздачы падаюцца асноўныя размеркаванні адказаў (у працэнтах), а таксама размеркаванні па сацыяльна-дэмаграфічных характарыстыках (гл. дадаткі).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641610"/>
            <a:ext cx="10820370" cy="121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Požiūris į baltarusius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Стаўленне да беларусаў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Kaip Jūs vertinate Baltarusijos piliečius?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219170"/>
            <a:ext cx="108203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вы ставіцеся да грамадзян Беларусі?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708441" y="1168420"/>
            <a:ext cx="0" cy="4368820"/>
          </a:xfrm>
          <a:prstGeom prst="line">
            <a:avLst/>
          </a:prstGeom>
          <a:noFill/>
          <a:ln w="15240">
            <a:solidFill>
              <a:srgbClr val="C0C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08441" y="5537241"/>
            <a:ext cx="7543800" cy="0"/>
          </a:xfrm>
          <a:prstGeom prst="line">
            <a:avLst/>
          </a:prstGeom>
          <a:noFill/>
          <a:ln w="7620">
            <a:solidFill>
              <a:srgbClr val="EDF1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08441" y="1168420"/>
            <a:ext cx="0" cy="4368820"/>
          </a:xfrm>
          <a:prstGeom prst="line">
            <a:avLst/>
          </a:prstGeom>
          <a:noFill/>
          <a:ln w="15240">
            <a:solidFill>
              <a:srgbClr val="EDF1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3580" y="55879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651370" y="1168420"/>
            <a:ext cx="0" cy="43688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6600" y="55879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5,0%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594391" y="1168420"/>
            <a:ext cx="0" cy="43688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9530" y="55879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537320" y="1168420"/>
            <a:ext cx="0" cy="43688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2550" y="55879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15,0%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480341" y="1168420"/>
            <a:ext cx="0" cy="43688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5480" y="55879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423270" y="1168420"/>
            <a:ext cx="0" cy="43688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8500" y="55879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25,0%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9366291" y="1168420"/>
            <a:ext cx="0" cy="43688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61430" y="55879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10309220" y="1168420"/>
            <a:ext cx="0" cy="43688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04450" y="55879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35,0%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11252241" y="1168420"/>
            <a:ext cx="0" cy="43688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47380" y="55879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40,0%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708441" y="1459657"/>
            <a:ext cx="7015734" cy="61164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1446947"/>
            <a:ext cx="2692359" cy="687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Teigiamai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Пазітыўна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10774924" y="1638513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37,2%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08441" y="2915930"/>
            <a:ext cx="6902531" cy="611642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2903220"/>
            <a:ext cx="2692359" cy="687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Neigiamai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Негатыўна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0661813" y="3094695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36,6%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708441" y="4372204"/>
            <a:ext cx="4960071" cy="61164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359493"/>
            <a:ext cx="2692359" cy="6878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8719261" y="4550969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26,3%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Kaip Jūs vertinate Baltarusijos piliečius?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8113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вы ставіцеся да грамадзян Беларусі?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422441" y="1397020"/>
            <a:ext cx="9778959" cy="0"/>
          </a:xfrm>
          <a:prstGeom prst="line">
            <a:avLst/>
          </a:prstGeom>
          <a:noFill/>
          <a:ln w="15240">
            <a:solidFill>
              <a:srgbClr val="B1C1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2441" y="5333970"/>
            <a:ext cx="9778959" cy="0"/>
          </a:xfrm>
          <a:prstGeom prst="line">
            <a:avLst/>
          </a:prstGeom>
          <a:noFill/>
          <a:ln w="15240">
            <a:solidFill>
              <a:srgbClr val="E4EA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970" y="5232380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422441" y="4677796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970" y="4576206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422441" y="4021623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1970" y="3920033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422441" y="3365541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970" y="3263859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422441" y="2709367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970" y="2607777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422441" y="2053194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970" y="1951604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422441" y="1397020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970" y="1295430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60,0%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082820" y="634959"/>
            <a:ext cx="127010" cy="12701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0580" y="634959"/>
            <a:ext cx="12700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Teigiamai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Пазітыўна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3733770" y="634959"/>
            <a:ext cx="127010" cy="127010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11620" y="634959"/>
            <a:ext cx="12700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Neigiamai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Негатыўна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5384810" y="634959"/>
            <a:ext cx="127010" cy="12701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62570" y="634959"/>
            <a:ext cx="12700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2204710" y="2893070"/>
            <a:ext cx="295991" cy="2440899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47890" y="2626340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37,2%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904226" y="2932389"/>
            <a:ext cx="295991" cy="2401580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7406" y="2665750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36,6%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03833" y="3608314"/>
            <a:ext cx="295991" cy="1725747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47014" y="3341583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26,3%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077700" y="5181630"/>
            <a:ext cx="1949044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5464363" y="2145000"/>
            <a:ext cx="295991" cy="318897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7543" y="1878360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48,6%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63879" y="3595146"/>
            <a:ext cx="295991" cy="1738823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07059" y="3328416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26,5%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63486" y="3706703"/>
            <a:ext cx="295991" cy="162726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06667" y="3439973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24,8%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37353" y="5181630"/>
            <a:ext cx="1949044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8724016" y="2998043"/>
            <a:ext cx="295991" cy="2335926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67196" y="2731313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35,6%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423624" y="2026950"/>
            <a:ext cx="295991" cy="3307110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66804" y="1760220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50,4%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123140" y="4415363"/>
            <a:ext cx="295991" cy="91860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66320" y="4148633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14,0%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597097" y="5181630"/>
            <a:ext cx="1949044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Teigiamų ir neigiamų nuostatų santykis (amžius)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6842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 пазітыўнага і негатыўнага стаўлення (узрост)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600200" y="3365541"/>
            <a:ext cx="9652041" cy="0"/>
          </a:xfrm>
          <a:prstGeom prst="line">
            <a:avLst/>
          </a:prstGeom>
          <a:noFill/>
          <a:ln w="15240">
            <a:solidFill>
              <a:srgbClr val="BCCA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4849338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747656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-15,0%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600200" y="4354739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53057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-10,0%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600200" y="3860140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58458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-5,0%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600200" y="3365541"/>
            <a:ext cx="9652041" cy="0"/>
          </a:xfrm>
          <a:prstGeom prst="line">
            <a:avLst/>
          </a:prstGeom>
          <a:noFill/>
          <a:ln w="15240">
            <a:solidFill>
              <a:srgbClr val="E9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63859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600200" y="2870942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6926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600200" y="2376343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274661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600200" y="1881744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1780062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15,0%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1600200" y="1387145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1285464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2235159" y="2534534"/>
            <a:ext cx="660380" cy="830915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0580" y="2267895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81230" y="5080041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18-25 m.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18-25 г.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4165641" y="3365541"/>
            <a:ext cx="660380" cy="1968520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90970" y="5245090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-19,9%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911620" y="5080041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26-35 m.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26-35 г.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6096030" y="3365541"/>
            <a:ext cx="660380" cy="405536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1359" y="3682197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-4,1%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42010" y="5080041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36-45 m.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36-45 г.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8026420" y="2386218"/>
            <a:ext cx="660380" cy="97932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51841" y="2119488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72400" y="5080041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46-55 m.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46-55 г.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9956810" y="2564252"/>
            <a:ext cx="660380" cy="801289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82230" y="2297521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8,1%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702790" y="5080041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m. ir daugiau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г. і больш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Teigiamų ir neigiamų nuostatų santykis (išsilavinimas)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6842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 пазітыўнага і негатыўнага стаўлення (адукацыя)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600200" y="3365541"/>
            <a:ext cx="9652041" cy="0"/>
          </a:xfrm>
          <a:prstGeom prst="line">
            <a:avLst/>
          </a:prstGeom>
          <a:noFill/>
          <a:ln w="15240">
            <a:solidFill>
              <a:srgbClr val="BCCA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4823643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722053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-10,0%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600200" y="4094592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993002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-5,0%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600200" y="3365541"/>
            <a:ext cx="9652041" cy="0"/>
          </a:xfrm>
          <a:prstGeom prst="line">
            <a:avLst/>
          </a:prstGeom>
          <a:noFill/>
          <a:ln w="15240">
            <a:solidFill>
              <a:srgbClr val="E9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63859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600200" y="2636398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34808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600200" y="1907347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805757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600200" y="1178296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076706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878623" y="3365541"/>
            <a:ext cx="660380" cy="1210300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4043" y="4486869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-8,3%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24694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Aukštasis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Вышэйшая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6096030" y="2665567"/>
            <a:ext cx="660380" cy="69988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1359" y="2398928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42010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Vidurinis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Сярэдняя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9313347" y="1397020"/>
            <a:ext cx="660380" cy="19685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38767" y="1130290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13,5%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59327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Nebaigtas vidurinis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Незавершаная сярэдняя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Teigiamų ir neigiamų nuostatų santykis (pajamos)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6842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 пазітыўнага і негатыўнага стаўлення (даход)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600200" y="3365541"/>
            <a:ext cx="9652041" cy="0"/>
          </a:xfrm>
          <a:prstGeom prst="line">
            <a:avLst/>
          </a:prstGeom>
          <a:noFill/>
          <a:ln w="15240">
            <a:solidFill>
              <a:srgbClr val="BCCA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4992350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89076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-10,0%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600200" y="4178899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07731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-5,0%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600200" y="3365541"/>
            <a:ext cx="9652041" cy="0"/>
          </a:xfrm>
          <a:prstGeom prst="line">
            <a:avLst/>
          </a:prstGeom>
          <a:noFill/>
          <a:ln w="15240">
            <a:solidFill>
              <a:srgbClr val="E9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63859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600200" y="2552090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450501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600200" y="1738640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63705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600200" y="925190"/>
            <a:ext cx="9652041" cy="0"/>
          </a:xfrm>
          <a:prstGeom prst="line">
            <a:avLst/>
          </a:prstGeom>
          <a:noFill/>
          <a:ln w="6350">
            <a:solidFill>
              <a:srgbClr val="E9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82360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235159" y="3154040"/>
            <a:ext cx="660380" cy="211501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0580" y="2887309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81230" y="5080041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Iki 500 Eur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 500 Eur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165641" y="2389419"/>
            <a:ext cx="660380" cy="97612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90970" y="2122688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11620" y="5080041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501-700 Eur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501-700 Eur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096030" y="2145365"/>
            <a:ext cx="660380" cy="1220175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1359" y="1878635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42010" y="5080041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701-1000 Eur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701-1000 Eur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8026420" y="3365541"/>
            <a:ext cx="660380" cy="1968520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51841" y="5245090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-12,1%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0" y="5080041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1001-1500 Eur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1001-1500 Eur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9956810" y="3365541"/>
            <a:ext cx="660380" cy="1561795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82230" y="4838365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-9,6%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702790" y="5080041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Daugiau nei 1500 Eur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 за 1500 Eur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Kaip Jūs vertinate Baltarusijos piliečius, gyvenančius Lietuvoje?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6842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вы ставіцеся да грамадзян Беларусі, якія жывуць у Літве?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15240">
            <a:solidFill>
              <a:srgbClr val="B1C1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3190" y="5333970"/>
            <a:ext cx="9702790" cy="0"/>
          </a:xfrm>
          <a:prstGeom prst="line">
            <a:avLst/>
          </a:prstGeom>
          <a:noFill/>
          <a:ln w="15240">
            <a:solidFill>
              <a:srgbClr val="E9E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90" y="523238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473190" y="4436577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90" y="4334896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473190" y="3539094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7390" y="3437504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473190" y="264161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7390" y="254002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473190" y="1744127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390" y="1642537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734696" y="1573591"/>
            <a:ext cx="711220" cy="3760379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5537" y="1306952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41,9%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06096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Teigiamai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Пазітыўна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5969020" y="2560869"/>
            <a:ext cx="711220" cy="2773192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9770" y="2294138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30,9%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40420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Neigiamai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Негатыўна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9203253" y="2892887"/>
            <a:ext cx="711220" cy="244108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54094" y="2626157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27,2%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974653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m., kai Baltarusijoje prasidėjo protestai prieš galimą rinkimų klastojimą, Lietuvos vyriausybė leido atvykti į šalį daugeliui žmonių, kurie buvo priversti palikti Baltarusiją. Kaip Jūs vertinate šį sprendimą?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6842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2020 годзе, калі ў Беларусі ўспыхнулі пратэсты супраць магчымага фальсіфікавання выбараў, літоўскі ўрад дазволіў многім людзям, якія былі вымушаныя пакінуць Беларусь, уехаць у краіну. Як вы ацэньваеце гэтае рашэнне?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15240">
            <a:solidFill>
              <a:srgbClr val="B1C1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3190" y="4444990"/>
            <a:ext cx="9702790" cy="0"/>
          </a:xfrm>
          <a:prstGeom prst="line">
            <a:avLst/>
          </a:prstGeom>
          <a:noFill/>
          <a:ln w="15240">
            <a:solidFill>
              <a:srgbClr val="E9E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90" y="434340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473190" y="3920033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90" y="3818443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473190" y="3395167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7390" y="3293577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473190" y="287021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7390" y="276862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473190" y="2345253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390" y="2243663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473190" y="1820296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7390" y="1718706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7390" y="1193841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60,0%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734696" y="1825600"/>
            <a:ext cx="711220" cy="261939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5537" y="1558869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49,9%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06096" y="4292559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Teigiamai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Пазітыўна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969020" y="3022458"/>
            <a:ext cx="711220" cy="1422532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9770" y="2755727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27,1%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40420" y="4292559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Neigiamai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Негатыўна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9203253" y="3237616"/>
            <a:ext cx="711220" cy="120737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54094" y="2970977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23,0%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74653" y="4292559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Teigiamai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6842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Пазітыўна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15240">
            <a:solidFill>
              <a:srgbClr val="B1C1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3190" y="5333970"/>
            <a:ext cx="9702790" cy="0"/>
          </a:xfrm>
          <a:prstGeom prst="line">
            <a:avLst/>
          </a:prstGeom>
          <a:noFill/>
          <a:ln w="15240">
            <a:solidFill>
              <a:srgbClr val="E9E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90" y="523238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473190" y="466088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90" y="455929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473190" y="398779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7390" y="388620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473190" y="331470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7390" y="321311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473190" y="264161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390" y="254002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473190" y="196852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7390" y="186693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7390" y="1193841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60,0%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734696" y="2830068"/>
            <a:ext cx="711220" cy="250390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5537" y="2563338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37,2%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06096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Baltarusijos piliečius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Грамадзян Беларусі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969020" y="2513686"/>
            <a:ext cx="711220" cy="282028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9770" y="2247047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41,9%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40420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Piliečius, gyvenančius Lietuvoje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Грамадзян, якія жывуць у Літве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9203253" y="1975195"/>
            <a:ext cx="711220" cy="335877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54094" y="1708556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49,9%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74653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m. migraciją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Міграцыю 2020 года</a:t>
            </a:r>
            <a:endParaRPr lang="en-US"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turite giminių, kolegų, pažįstamų ar kitų asmenų iš Baltarusijos, su kuriais per pastaruosius metus bent kartą palaikėte ryšį? Nesvarbu, ar jie gyvena Baltarusijoje, ar kitose šalyse.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1193841"/>
            <a:ext cx="1082037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 ёсць у вас сваякі, калегі, знаёмыя ці іншыя людзі з Беларусі, з якімі вы падтрымлівалі сувязь хаця б адзін раз за апошні год? Не мае значэння, жывуць яны ў Беларусі ці ў іншых краінах.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15240">
            <a:solidFill>
              <a:srgbClr val="B1C1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3190" y="4444990"/>
            <a:ext cx="9702790" cy="0"/>
          </a:xfrm>
          <a:prstGeom prst="line">
            <a:avLst/>
          </a:prstGeom>
          <a:noFill/>
          <a:ln w="15240">
            <a:solidFill>
              <a:srgbClr val="E9E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90" y="434340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473190" y="413007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90" y="4028481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473190" y="381506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7390" y="371347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473190" y="350014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7390" y="339855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473190" y="318513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390" y="308354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473190" y="287021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7390" y="276862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473190" y="2555199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7390" y="245361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60,0%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1473190" y="224028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7390" y="213869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70,0%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1473190" y="1925361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7390" y="1823679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80,0%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473190" y="161035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7390" y="150876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90,0%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7390" y="1193841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100,0%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3543300" y="4054450"/>
            <a:ext cx="711220" cy="39054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4141" y="3787719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12,4%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14700" y="4292559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Taip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8394741" y="1685971"/>
            <a:ext cx="711220" cy="2759019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45490" y="1419240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87,6%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66141" y="4292559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</a:t>
            </a:r>
            <a:endParaRPr lang="en-US" sz="8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2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turite giminių, kolegų, pažįstamų ar kitų asmenų iš Baltarusijos, su kuriais per pastaruosius metus bent kartą palaikėte ryšį? Nesvarbu, ar jie gyvena Baltarusijoje, ar kitose šalyse.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1206459"/>
            <a:ext cx="10820370" cy="72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 ёсць у вас сваякі, калегі, знаёмыя ці іншыя людзі з Беларусі, з якімі вы падтрымлівалі сувязь хаця б адзін раз за апошні год? Не мае значэння, жывуць яны ў Беларусі ці ў іншых краінах.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422441" y="1397020"/>
            <a:ext cx="9778959" cy="0"/>
          </a:xfrm>
          <a:prstGeom prst="line">
            <a:avLst/>
          </a:prstGeom>
          <a:noFill/>
          <a:ln w="15240">
            <a:solidFill>
              <a:srgbClr val="B1C1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2441" y="4572000"/>
            <a:ext cx="9778959" cy="0"/>
          </a:xfrm>
          <a:prstGeom prst="line">
            <a:avLst/>
          </a:prstGeom>
          <a:noFill/>
          <a:ln w="15240">
            <a:solidFill>
              <a:srgbClr val="E4EA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970" y="4470410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422441" y="4254520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970" y="4152930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422441" y="3937041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1970" y="3835359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422441" y="3619470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970" y="3517880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422441" y="3301990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970" y="3200400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422441" y="2984510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970" y="2882920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422441" y="2667030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970" y="2565441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60,0%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1422441" y="2349459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970" y="2247870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70,0%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1422441" y="2031980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1970" y="1930390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80,0%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422441" y="1714500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1970" y="1612910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90,0%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1422441" y="1397020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970" y="1295430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100,0%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2082820" y="660380"/>
            <a:ext cx="127010" cy="12701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60580" y="660380"/>
            <a:ext cx="12700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Taip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3733770" y="660380"/>
            <a:ext cx="127010" cy="127010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11620" y="660380"/>
            <a:ext cx="12700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2432853" y="4178259"/>
            <a:ext cx="398130" cy="393741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27148" y="3911620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12,4%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73461" y="1790670"/>
            <a:ext cx="398130" cy="2781330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67664" y="1524030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87,6%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305934" y="4419570"/>
            <a:ext cx="1492667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5692597" y="3857671"/>
            <a:ext cx="398130" cy="714421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86801" y="3590940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533114" y="2282800"/>
            <a:ext cx="398130" cy="2289200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7409" y="2016161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72,1%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65587" y="4419570"/>
            <a:ext cx="1492667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8952250" y="4340200"/>
            <a:ext cx="398130" cy="23180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46546" y="4073561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7,3%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792767" y="1631930"/>
            <a:ext cx="398130" cy="2940070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87062" y="1365291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92,6%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825240" y="4419570"/>
            <a:ext cx="1492667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</a:t>
            </a:r>
            <a:endParaRPr lang="en-US" sz="8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turite giminių, kolegų, pažįstamų ar kitų asmenų iš Baltarusijos, su kuriais per pastaruosius metus bent kartą palaikėte ryšį? Nesvarbu, ar jie gyvena Baltarusijoje, ar kitose šalyse (taip).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6842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 ёсць у вас сваякі, калегі, знаёмыя ці іншыя людзі з Беларусі, з якімі вы падтрымлівалі сувязь хаця б адзін раз за апошні год? Не мае значэння, жывуць яны ў Беларусі ці ў іншых краінах (так).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15240">
            <a:solidFill>
              <a:srgbClr val="B1C1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3190" y="4572000"/>
            <a:ext cx="9702790" cy="0"/>
          </a:xfrm>
          <a:prstGeom prst="line">
            <a:avLst/>
          </a:prstGeom>
          <a:noFill/>
          <a:ln w="15240">
            <a:solidFill>
              <a:srgbClr val="E9E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90" y="447041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473190" y="391665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90" y="381506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5,0%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473190" y="326139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7390" y="3159801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473190" y="260604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7390" y="250445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473190" y="195069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390" y="184910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7390" y="1193841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330440" y="1727942"/>
            <a:ext cx="711220" cy="2844058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81280" y="1461211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21,7%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01840" y="441957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Vilnius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Вільнюс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756160" y="3589020"/>
            <a:ext cx="711220" cy="98298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6909" y="3322290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27560" y="441957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Kiti didieji miestai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Іншыя буйныя гарады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181880" y="3287542"/>
            <a:ext cx="711220" cy="1284458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32630" y="3020903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53280" y="441957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Kitas miestas, rajono centras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Іншы горад, раённы цэнтр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9607509" y="2986156"/>
            <a:ext cx="711220" cy="158584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58350" y="2719426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12,1%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378909" y="441957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Kaimo vietovė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Сельская мясцовасць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Kaip Lietuvai reikėtų elgtis su darbo migracija iš Baltarusijos?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8113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Літве варта вырашаць пытанне працоўнай міграцыі з Беларусі?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5029200"/>
            <a:ext cx="10820370" cy="30477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3434" y="5080041"/>
            <a:ext cx="1687068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9742932" y="5080041"/>
            <a:ext cx="1687068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685800" y="5384810"/>
            <a:ext cx="10820370" cy="362742"/>
          </a:xfrm>
          <a:prstGeom prst="rect">
            <a:avLst/>
          </a:prstGeom>
          <a:solidFill>
            <a:srgbClr val="EBD6D9"/>
          </a:solidFill>
          <a:ln w="12700">
            <a:solidFill>
              <a:srgbClr val="EBD6D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5384810"/>
            <a:ext cx="88880" cy="362742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3559" y="5435559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Siekti sumažinti šiuo metu Lietuvoje esančių darbo migrantų iš Baltarusijos skaičių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Мэта — скараціць колькасць працоўных мігрантаў з Беларусі, якія цяпер знаходзяцца ў Літве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27264" y="5439126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26,8%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66762" y="5439126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26,2%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5772882"/>
            <a:ext cx="10820370" cy="362742"/>
          </a:xfrm>
          <a:prstGeom prst="rect">
            <a:avLst/>
          </a:prstGeom>
          <a:solidFill>
            <a:srgbClr val="F4E8EA"/>
          </a:solidFill>
          <a:ln w="12700">
            <a:solidFill>
              <a:srgbClr val="F4E8E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5772882"/>
            <a:ext cx="88880" cy="362742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3559" y="5823722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Nutraukti tolesnę darbo migraciją iš Baltarusijos, tačiau nesiimti priemonių mažinti jau esamą jų skaičių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Спыніць далейшую працоўную міграцыю з Беларусі, але не прымаць мер па скарачэнні ўжо наяўнай колькасці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27264" y="5827288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18,1%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66762" y="5827288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16,3%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6161044"/>
            <a:ext cx="10820370" cy="3627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6161044"/>
            <a:ext cx="88880" cy="36274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559" y="6211794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Leisti darbo migraciją tomis pačiomis sąlygomis kaip ir iš kitų ne ES šalių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Дазволіць працоўную міграцыю на тых самых умовах, што і з іншых краін па-за ЕС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27264" y="6215360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37,3%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66762" y="6215360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30,5%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6549116"/>
            <a:ext cx="10820370" cy="362742"/>
          </a:xfrm>
          <a:prstGeom prst="rect">
            <a:avLst/>
          </a:prstGeom>
          <a:solidFill>
            <a:srgbClr val="E7F1ED"/>
          </a:solidFill>
          <a:ln w="12700">
            <a:solidFill>
              <a:srgbClr val="E7F1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6549116"/>
            <a:ext cx="88880" cy="36274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3559" y="6599956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Skatinti darbo migraciją iš Baltarusijos (sudaryti specialias, palankias sąlygas)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Заахвочваць працоўную міграцыю з Беларусі (стварыць спецыяльныя спрыяльныя ўмовы)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27264" y="6603522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66762" y="6603522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6937278"/>
            <a:ext cx="10820370" cy="3627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6937278"/>
            <a:ext cx="88880" cy="36274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3559" y="6988028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27264" y="6991594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13,9%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666762" y="6991594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20,4%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641610"/>
            <a:ext cx="10820370" cy="121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Baltarusijos politika ir valstybė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Беларуская палітыка і дзяржава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kuriuo iš žemiau pateiktų teiginių Jūs labiausiai sutinkate?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8113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якім з наступных сцвярджэнняў вы найбольш згодныя?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5029200"/>
            <a:ext cx="10820370" cy="30477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3434" y="5080041"/>
            <a:ext cx="3526566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85800" y="5384810"/>
            <a:ext cx="10820370" cy="362742"/>
          </a:xfrm>
          <a:prstGeom prst="rect">
            <a:avLst/>
          </a:prstGeom>
          <a:solidFill>
            <a:srgbClr val="D3E5DF"/>
          </a:solidFill>
          <a:ln w="12700">
            <a:solidFill>
              <a:srgbClr val="D3E5D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5384810"/>
            <a:ext cx="88880" cy="36274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3559" y="5435559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Baltarusija yra demokratiška valstybė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Беларусь — дэмакратычная дзяржава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27264" y="5439126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5772882"/>
            <a:ext cx="10820370" cy="362742"/>
          </a:xfrm>
          <a:prstGeom prst="rect">
            <a:avLst/>
          </a:prstGeom>
          <a:solidFill>
            <a:srgbClr val="E7F1ED"/>
          </a:solidFill>
          <a:ln w="12700">
            <a:solidFill>
              <a:srgbClr val="E7F1E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5772882"/>
            <a:ext cx="88880" cy="36274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3559" y="5823722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Baltarusija yra daugiau demokratiška nei autoritarinė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Беларусь хутчэй дэмакратычная, чым аўтарытарная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27264" y="5827288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6161044"/>
            <a:ext cx="10820370" cy="362742"/>
          </a:xfrm>
          <a:prstGeom prst="rect">
            <a:avLst/>
          </a:prstGeom>
          <a:solidFill>
            <a:srgbClr val="EBD6D9"/>
          </a:solidFill>
          <a:ln w="12700">
            <a:solidFill>
              <a:srgbClr val="EBD6D9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6161044"/>
            <a:ext cx="88880" cy="362742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559" y="6211794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Baltarusija daugiau yra autoritarinė nei demokratiška valstybė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Беларусь хутчэй аўтарытарная, чым дэмакратычная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27264" y="6215360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21,9%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6549116"/>
            <a:ext cx="10820370" cy="362742"/>
          </a:xfrm>
          <a:prstGeom prst="rect">
            <a:avLst/>
          </a:prstGeom>
          <a:solidFill>
            <a:srgbClr val="F4E8EA"/>
          </a:solidFill>
          <a:ln w="12700">
            <a:solidFill>
              <a:srgbClr val="F4E8E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6549116"/>
            <a:ext cx="88880" cy="362742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559" y="6599956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Baltarusija yra autoritarinė valstybė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Беларусь — аўтарытарная дзяржава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27264" y="6603522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54,0%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6937278"/>
            <a:ext cx="10820370" cy="3627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6937278"/>
            <a:ext cx="88880" cy="36274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3559" y="6988028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27264" y="6991594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17,3%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kuriuo iš žemiau pateiktų teiginių Jūs labiausiai sutinkate?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8113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якім з наступных сцвярджэнняў вы найбольш згодныя?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5029200"/>
            <a:ext cx="10820370" cy="30477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3434" y="5080041"/>
            <a:ext cx="1073871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9129735" y="5080041"/>
            <a:ext cx="1073871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10356129" y="5080041"/>
            <a:ext cx="1073871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685800" y="5384810"/>
            <a:ext cx="10820370" cy="362742"/>
          </a:xfrm>
          <a:prstGeom prst="rect">
            <a:avLst/>
          </a:prstGeom>
          <a:solidFill>
            <a:srgbClr val="D3E5DF"/>
          </a:solidFill>
          <a:ln w="12700">
            <a:solidFill>
              <a:srgbClr val="D3E5D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5384810"/>
            <a:ext cx="88880" cy="36274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3559" y="5435559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Baltarusija yra demokratiška valstybė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Беларусь — дэмакратычная дзяржава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27264" y="5439126"/>
            <a:ext cx="1226302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053566" y="5439126"/>
            <a:ext cx="1226302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279868" y="5439126"/>
            <a:ext cx="1226302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5772882"/>
            <a:ext cx="10820370" cy="362742"/>
          </a:xfrm>
          <a:prstGeom prst="rect">
            <a:avLst/>
          </a:prstGeom>
          <a:solidFill>
            <a:srgbClr val="E7F1ED"/>
          </a:solidFill>
          <a:ln w="12700">
            <a:solidFill>
              <a:srgbClr val="E7F1ED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5772882"/>
            <a:ext cx="88880" cy="36274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559" y="5823722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Baltarusija yra daugiau demokratiška nei autoritarinė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Беларусь хутчэй дэмакратычная, чым аўтарытарная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27264" y="5827288"/>
            <a:ext cx="1226302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53566" y="5827288"/>
            <a:ext cx="1226302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11,9%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279868" y="5827288"/>
            <a:ext cx="1226302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6161044"/>
            <a:ext cx="10820370" cy="362742"/>
          </a:xfrm>
          <a:prstGeom prst="rect">
            <a:avLst/>
          </a:prstGeom>
          <a:solidFill>
            <a:srgbClr val="EBD6D9"/>
          </a:solidFill>
          <a:ln w="12700">
            <a:solidFill>
              <a:srgbClr val="EBD6D9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6161044"/>
            <a:ext cx="88880" cy="362742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3559" y="6211794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Baltarusija daugiau yra autoritarinė nei demokratiška valstybė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Беларусь хутчэй аўтарытарная, чым дэмакратычная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27264" y="6215360"/>
            <a:ext cx="1226302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21,9%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053566" y="6215360"/>
            <a:ext cx="1226302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21,1%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279868" y="6215360"/>
            <a:ext cx="1226302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22,2%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" y="6549116"/>
            <a:ext cx="10820370" cy="362742"/>
          </a:xfrm>
          <a:prstGeom prst="rect">
            <a:avLst/>
          </a:prstGeom>
          <a:solidFill>
            <a:srgbClr val="F4E8EA"/>
          </a:solidFill>
          <a:ln w="12700">
            <a:solidFill>
              <a:srgbClr val="F4E8E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6549116"/>
            <a:ext cx="88880" cy="362742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3559" y="6599956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Baltarusija yra autoritarinė valstybė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Беларусь — аўтарытарная дзяржава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27264" y="6603522"/>
            <a:ext cx="1226302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54,0%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053566" y="6603522"/>
            <a:ext cx="1226302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45,9%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279868" y="6603522"/>
            <a:ext cx="1226302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58,3%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85800" y="6937278"/>
            <a:ext cx="10820370" cy="3627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6937278"/>
            <a:ext cx="88880" cy="36274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3559" y="6988028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827264" y="6991594"/>
            <a:ext cx="1226302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17,3%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053566" y="6991594"/>
            <a:ext cx="1226302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15,9%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279868" y="6991594"/>
            <a:ext cx="1226302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10,6%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641610"/>
            <a:ext cx="10820370" cy="121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Užsienio politika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Знешняя палітыка</a:t>
            </a:r>
            <a:endParaRPr lang="en-US" sz="3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kuriuo iš šių teiginių Jūs labiausiai sutinkate?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85800" y="118113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якім з гэтых сцвярджэнняў вы найбольш згодныя?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4902190"/>
            <a:ext cx="10820370" cy="30477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3434" y="4953030"/>
            <a:ext cx="3526566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85800" y="5257800"/>
            <a:ext cx="10820370" cy="362742"/>
          </a:xfrm>
          <a:prstGeom prst="rect">
            <a:avLst/>
          </a:prstGeom>
          <a:solidFill>
            <a:srgbClr val="D3E5DF"/>
          </a:solidFill>
          <a:ln w="12700">
            <a:solidFill>
              <a:srgbClr val="D3E5D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5257800"/>
            <a:ext cx="88880" cy="36274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3559" y="5308641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Baltarusija yra nepriklausoma valstybė, visiškai savarankiška užsienio politikoje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Беларусь — незалежная дзяржава, цалкам аўтаномная ў знешняй палітыцы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827264" y="5312115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5645871"/>
            <a:ext cx="10820370" cy="362742"/>
          </a:xfrm>
          <a:prstGeom prst="rect">
            <a:avLst/>
          </a:prstGeom>
          <a:solidFill>
            <a:srgbClr val="E7F1ED"/>
          </a:solidFill>
          <a:ln w="12700">
            <a:solidFill>
              <a:srgbClr val="E7F1ED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5645871"/>
            <a:ext cx="88880" cy="36274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3559" y="5696712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Baltarusija yra nepriklausoma valstybė, kurios užsienio politikai reikšmingą įtaką daro Rusija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Беларусь — незалежная дзяржава, на знешнюю палітыку якой істотна ўплывае Расія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7827264" y="5700278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17,7%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6034034"/>
            <a:ext cx="10820370" cy="362742"/>
          </a:xfrm>
          <a:prstGeom prst="rect">
            <a:avLst/>
          </a:prstGeom>
          <a:solidFill>
            <a:srgbClr val="EBD6D9"/>
          </a:solidFill>
          <a:ln w="12700">
            <a:solidFill>
              <a:srgbClr val="EBD6D9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6034034"/>
            <a:ext cx="88880" cy="362742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559" y="6084783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Baltarusija yra priklausoma valstybė, kurios užsienio politiką beveik visiškai lemia Rusija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Беларусь — залежная дзяржава, знешняя палітыка якой амаль цалкам вызначаецца Расіяй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7827264" y="6088350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28,1%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6422106"/>
            <a:ext cx="10820370" cy="362742"/>
          </a:xfrm>
          <a:prstGeom prst="rect">
            <a:avLst/>
          </a:prstGeom>
          <a:solidFill>
            <a:srgbClr val="F4E8EA"/>
          </a:solidFill>
          <a:ln w="12700">
            <a:solidFill>
              <a:srgbClr val="F4E8E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6422106"/>
            <a:ext cx="88880" cy="362742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559" y="6472946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Baltarusija yra priklausoma valstybė, visiškai kontroliuojama Rusijos (faktiškai Rusijos okupuota valstybė)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Беларусь — залежная дзяржава, цалкам кантралюемая Расіяй (фактычна акупаваная Расіяй)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7827264" y="6476512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33,9%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6810268"/>
            <a:ext cx="10820370" cy="3627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6810268"/>
            <a:ext cx="88880" cy="36274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3559" y="6861018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7827264" y="6864584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14,2%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kuriuo iš šių teiginių Jūs labiausiai sutinkate?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8113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якім з гэтых сцвярджэнняў вы найбольш згодныя?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5029200"/>
            <a:ext cx="10820370" cy="30477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3434" y="5080041"/>
            <a:ext cx="3526566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85800" y="5384810"/>
            <a:ext cx="10820370" cy="395112"/>
          </a:xfrm>
          <a:prstGeom prst="rect">
            <a:avLst/>
          </a:prstGeom>
          <a:solidFill>
            <a:srgbClr val="D3E5DF"/>
          </a:solidFill>
          <a:ln w="12700">
            <a:solidFill>
              <a:srgbClr val="D3E5D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5384810"/>
            <a:ext cx="88880" cy="39511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3559" y="5435559"/>
            <a:ext cx="6836694" cy="2935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Baltarusija yra nepriklausoma valstybė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Беларусь — незалежная дзяржава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27264" y="5455310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23,8%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5805343"/>
            <a:ext cx="10820370" cy="395112"/>
          </a:xfrm>
          <a:prstGeom prst="rect">
            <a:avLst/>
          </a:prstGeom>
          <a:solidFill>
            <a:srgbClr val="F4E8EA"/>
          </a:solidFill>
          <a:ln w="12700">
            <a:solidFill>
              <a:srgbClr val="F4E8E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5805343"/>
            <a:ext cx="88880" cy="395112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3559" y="5856092"/>
            <a:ext cx="6836694" cy="2935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Baltarusija yra priklausoma valstybė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Беларусь — залежная дзяржава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27264" y="5875843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62,0%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6225784"/>
            <a:ext cx="10820370" cy="39511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6225784"/>
            <a:ext cx="88880" cy="39511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559" y="6276624"/>
            <a:ext cx="6836694" cy="2935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27264" y="6296376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14,2%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kuriuo iš šių teiginių Jūs labiausiai sutinkate?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8113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якім з гэтых сцвярджэнняў вы найбольш згодныя?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422441" y="1397020"/>
            <a:ext cx="9778959" cy="0"/>
          </a:xfrm>
          <a:prstGeom prst="line">
            <a:avLst/>
          </a:prstGeom>
          <a:noFill/>
          <a:ln w="15240">
            <a:solidFill>
              <a:srgbClr val="B1C1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2441" y="5333970"/>
            <a:ext cx="9778959" cy="0"/>
          </a:xfrm>
          <a:prstGeom prst="line">
            <a:avLst/>
          </a:prstGeom>
          <a:noFill/>
          <a:ln w="15240">
            <a:solidFill>
              <a:srgbClr val="E4EA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970" y="5232380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422441" y="4896521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970" y="4794931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422441" y="4459072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1970" y="4357482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422441" y="4021623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970" y="3920033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422441" y="3584265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970" y="3482584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422441" y="3146816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970" y="3045135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422441" y="2709367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970" y="2607777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60,0%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1422441" y="2271918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970" y="2170328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70,0%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1422441" y="1834469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1970" y="1732879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80,0%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422441" y="1397020"/>
            <a:ext cx="9778959" cy="0"/>
          </a:xfrm>
          <a:prstGeom prst="line">
            <a:avLst/>
          </a:prstGeom>
          <a:noFill/>
          <a:ln w="7620">
            <a:solidFill>
              <a:srgbClr val="E4EA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1970" y="1295430"/>
            <a:ext cx="55879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90,0%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082820" y="634959"/>
            <a:ext cx="127010" cy="127010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60580" y="634959"/>
            <a:ext cx="12700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Priklausoma valstybė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Залежная дзяржава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3733770" y="634959"/>
            <a:ext cx="127010" cy="12701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11620" y="634959"/>
            <a:ext cx="12700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Nepriklausoma valstybė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Незалежная дзяржава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5384810" y="634959"/>
            <a:ext cx="127010" cy="12701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62570" y="634959"/>
            <a:ext cx="1270010" cy="3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2058040" y="2621859"/>
            <a:ext cx="204917" cy="2712110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55683" y="2355129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62,0%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542306" y="4292925"/>
            <a:ext cx="204917" cy="1041136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9950" y="4026195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23,8%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026664" y="4712818"/>
            <a:ext cx="204917" cy="62115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24307" y="4446087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14,2%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931030" y="5181630"/>
            <a:ext cx="142747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4502780" y="3173059"/>
            <a:ext cx="204917" cy="2161002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00423" y="2906329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49,4%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87046" y="3728557"/>
            <a:ext cx="204917" cy="160541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4689" y="3461918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36,7%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71404" y="4725985"/>
            <a:ext cx="204917" cy="60807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69047" y="4459254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13,9%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375770" y="5181630"/>
            <a:ext cx="142747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6947520" y="3067995"/>
            <a:ext cx="204917" cy="2265975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45163" y="2801356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51,8%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431786" y="3816066"/>
            <a:ext cx="204917" cy="151790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29521" y="3549335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34,7%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916144" y="4743450"/>
            <a:ext cx="204917" cy="590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13787" y="4476720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13,5%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820510" y="5181630"/>
            <a:ext cx="142747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piliečiai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Грамадзяне ЛВ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9392260" y="1764426"/>
            <a:ext cx="204917" cy="3569543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89903" y="1497787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81,6%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876617" y="4743450"/>
            <a:ext cx="204917" cy="5905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74261" y="4476720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13,5%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0360884" y="5115245"/>
            <a:ext cx="204917" cy="21872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58527" y="4848606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5,0%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265249" y="5181630"/>
            <a:ext cx="142747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</a:t>
            </a:r>
            <a:endParaRPr lang="en-US" sz="8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Baltarusija yra nepriklausoma valstybė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219170"/>
            <a:ext cx="108203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Беларусь — незалежная дзяржава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97420" y="1168420"/>
            <a:ext cx="0" cy="4292559"/>
          </a:xfrm>
          <a:prstGeom prst="line">
            <a:avLst/>
          </a:prstGeom>
          <a:noFill/>
          <a:ln w="15240">
            <a:solidFill>
              <a:srgbClr val="C0C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97420" y="5460980"/>
            <a:ext cx="6654820" cy="0"/>
          </a:xfrm>
          <a:prstGeom prst="line">
            <a:avLst/>
          </a:prstGeom>
          <a:noFill/>
          <a:ln w="7620">
            <a:solidFill>
              <a:srgbClr val="EDF1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97420" y="1168420"/>
            <a:ext cx="0" cy="4292559"/>
          </a:xfrm>
          <a:prstGeom prst="line">
            <a:avLst/>
          </a:prstGeom>
          <a:noFill/>
          <a:ln w="15240">
            <a:solidFill>
              <a:srgbClr val="EDF1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2559" y="551182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5429250" y="1168420"/>
            <a:ext cx="0" cy="4292559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4480" y="551182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5,0%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261080" y="1168420"/>
            <a:ext cx="0" cy="4292559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56310" y="551182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092909" y="1168420"/>
            <a:ext cx="0" cy="4292559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8140" y="551182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15,0%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924830" y="1168420"/>
            <a:ext cx="0" cy="4292559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19970" y="551182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756660" y="1168420"/>
            <a:ext cx="0" cy="4292559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1891" y="551182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25,0%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9588490" y="1168420"/>
            <a:ext cx="0" cy="4292559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3720" y="551182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10420320" y="1168420"/>
            <a:ext cx="0" cy="4292559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15550" y="551182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35,0%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11252241" y="1168420"/>
            <a:ext cx="0" cy="4292559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47380" y="551182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40,0%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597420" y="1254282"/>
            <a:ext cx="4175882" cy="1803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1241572"/>
            <a:ext cx="358143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Nebalsavau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галасаваў(ла)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8824051" y="1217432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25,1%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97420" y="1683502"/>
            <a:ext cx="3942984" cy="1803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1670792"/>
            <a:ext cx="358143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Kita partija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Іншая партыя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591154" y="1646652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23,7%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97420" y="2112813"/>
            <a:ext cx="4541916" cy="1803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2100102"/>
            <a:ext cx="358143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Nacionalinis susivienijimas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Нацыянальнае аб'яднанне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9190086" y="2075871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27,3%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97420" y="2542032"/>
            <a:ext cx="5540075" cy="1803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2529322"/>
            <a:ext cx="358143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Lietuvos lenkų rinkimų akcija – Krikščioniškų šeimų sąjunga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Выбарчая акцыя палякаў Літвы — Саюз хрысціянскіх сем'яў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10188336" y="2505182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33,3%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97420" y="2971251"/>
            <a:ext cx="4159240" cy="1803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2958633"/>
            <a:ext cx="358143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Lietuvos valstiečių ir žaliųjų sąjunga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Саюз сялян і зялёных Літвы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8807409" y="2934401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25,0%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97420" y="3400562"/>
            <a:ext cx="2745120" cy="1803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3387852"/>
            <a:ext cx="358143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Liberalų sąjūdis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Ліберальны рух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7393290" y="3363712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16,5%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97420" y="3829782"/>
            <a:ext cx="3593592" cy="1803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3817071"/>
            <a:ext cx="358143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Demokratų sąjunga „Vardan Lietuvos“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Дэмакратычны саюз «Дзеля Літвы»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8241762" y="3792931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21,6%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97420" y="4259092"/>
            <a:ext cx="5756422" cy="1803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4246382"/>
            <a:ext cx="358143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Partija „Nemuno aušra“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Партыя «Світанак Нёмана»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10404592" y="4222242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34,6%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97420" y="4688312"/>
            <a:ext cx="2329160" cy="1803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4675602"/>
            <a:ext cx="358143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Tėvynės sąjunga – Lietuvos konservatoriai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Саюз Айчыны — літоўскія кансерватары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6977421" y="4651461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14,0%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597420" y="5117622"/>
            <a:ext cx="4392138" cy="18032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" y="5104912"/>
            <a:ext cx="3581430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Socialdemokratų partija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Сацыял-дэмакратычная партыя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9040398" y="5080772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26,4%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Kokią politiką Lietuva turėtų vykdyti Baltarusijos atžvilgiu?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8113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Якую палітыку павінна праводзіць Літва ў дачыненні да Беларусі?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5029200"/>
            <a:ext cx="10820370" cy="30477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3434" y="5080041"/>
            <a:ext cx="1687068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9742932" y="5080041"/>
            <a:ext cx="1687068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685800" y="5384810"/>
            <a:ext cx="10820370" cy="362742"/>
          </a:xfrm>
          <a:prstGeom prst="rect">
            <a:avLst/>
          </a:prstGeom>
          <a:solidFill>
            <a:srgbClr val="EBD6D9"/>
          </a:solidFill>
          <a:ln w="12700">
            <a:solidFill>
              <a:srgbClr val="EBD6D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5384810"/>
            <a:ext cx="88880" cy="362742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3559" y="5435559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Vykdyti užsienio politikos izoliacijos ir sankcijų politiką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Праводзіць палітыку ізаляцыі і санкцый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27264" y="5439126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66762" y="5439126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34,9%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5772882"/>
            <a:ext cx="10820370" cy="423459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5772882"/>
            <a:ext cx="88880" cy="423459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3559" y="5823722"/>
            <a:ext cx="6836694" cy="321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Aktyviai neplėtoti bendradarbiavimo, tačiau palaikyti santykius su Baltarusijos valdžia tose srityse, kurios yra ekonomiškai svarbios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развіваць супрацоўніцтва актыўна, але падтрымліваць адносіны з уладамі Беларусі ў сферах эканамічнага інтарэсу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27264" y="5857646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39,9%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66762" y="5857646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29,4%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6221760"/>
            <a:ext cx="10820370" cy="362742"/>
          </a:xfrm>
          <a:prstGeom prst="rect">
            <a:avLst/>
          </a:prstGeom>
          <a:solidFill>
            <a:srgbClr val="D3E5DF"/>
          </a:solidFill>
          <a:ln w="12700">
            <a:solidFill>
              <a:srgbClr val="D3E5D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6221760"/>
            <a:ext cx="88880" cy="36274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559" y="6272510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Plėtoti visapusišką bendradarbiavimą ir partnerystę su Baltarusijos valdžia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Развіваць усебаковае супрацоўніцтва і партнёрства з уладамі Беларусі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27264" y="6276076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13,2%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66762" y="6276076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21,6%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6609832"/>
            <a:ext cx="10820370" cy="3627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6609832"/>
            <a:ext cx="88880" cy="36274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3559" y="6660672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827264" y="6664239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16,9%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66762" y="6664239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14,2%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Vykdyti užsienio politikos izoliacijos ir sankcijų politiką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6842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Праводзіць палітыку ізаляцыі і санкцый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15240">
            <a:solidFill>
              <a:srgbClr val="B1C1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3190" y="5333970"/>
            <a:ext cx="9702790" cy="0"/>
          </a:xfrm>
          <a:prstGeom prst="line">
            <a:avLst/>
          </a:prstGeom>
          <a:noFill/>
          <a:ln w="15240">
            <a:solidFill>
              <a:srgbClr val="E9E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90" y="523238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473190" y="466088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90" y="455929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473190" y="398779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7390" y="388620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473190" y="331470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7390" y="321311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473190" y="264161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390" y="254002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473190" y="196852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7390" y="186693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7390" y="1193841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60,0%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087850" y="4095506"/>
            <a:ext cx="711220" cy="1238463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8690" y="3828776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18,4%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59250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Iki 500 Eur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 500 Eur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4028481" y="3557016"/>
            <a:ext cx="711220" cy="1776954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79230" y="3290286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26,4%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99881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501-700 Eur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501-700 Eur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5969020" y="3610874"/>
            <a:ext cx="711220" cy="1723095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9770" y="3344144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25,6%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40420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701-1000 Eur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701-1000 Eur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909560" y="2749326"/>
            <a:ext cx="711220" cy="2584734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60401" y="2482596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38,4%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680960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1001-1500 Eur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1001-1500 Eur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9850100" y="1894454"/>
            <a:ext cx="711220" cy="3439516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00940" y="1627723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51,1%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21500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Daugiau nei 1500 Eur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 за 1500 Eur</a:t>
            </a:r>
            <a:endParaRPr lang="en-US" sz="8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Vykdyti užsienio politikos izoliacijos ir sankcijų politiką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6842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Праводзіць палітыку ізаляцыі і санкцый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15240">
            <a:solidFill>
              <a:srgbClr val="B1C1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3190" y="5333970"/>
            <a:ext cx="9702790" cy="0"/>
          </a:xfrm>
          <a:prstGeom prst="line">
            <a:avLst/>
          </a:prstGeom>
          <a:noFill/>
          <a:ln w="15240">
            <a:solidFill>
              <a:srgbClr val="E9E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90" y="523238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473190" y="4436577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90" y="4334896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473190" y="3539094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7390" y="3437504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473190" y="264161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7390" y="254002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473190" y="1744127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390" y="1642537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2330440" y="1573591"/>
            <a:ext cx="711220" cy="3760379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81280" y="1306952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41,9%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01840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Vilnius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Вільнюс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4756160" y="2794132"/>
            <a:ext cx="711220" cy="2539837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6909" y="2527493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28,3%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27560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Kiti didieji miestai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Іншыя буйныя гарады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7181880" y="2668494"/>
            <a:ext cx="711220" cy="2665476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2630" y="2401854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29,7%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53280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Kitas miestas, rajono centras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Іншы горад, раённы цэнтр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9607509" y="3314700"/>
            <a:ext cx="711220" cy="2019270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58350" y="3047970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78909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Kaimo vietovė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Сельская мясцовасць</a:t>
            </a:r>
            <a:endParaRPr lang="en-US" sz="8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641610"/>
            <a:ext cx="10820370" cy="121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Kultūra, istorija ir tapatybė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Культура, гісторыя і ідэнтычнасць</a:t>
            </a:r>
            <a:endParaRPr lang="en-US" sz="3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2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Kaip Jūs vertintumėte, jei herbas, paremtas LDK „Vyčiu“, vėl taptų Baltarusijos valstybiniu simboliu (kaip tai buvo 1991-1995 m.)?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85800" y="1257300"/>
            <a:ext cx="10820370" cy="723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бы вы паставіліся да сітуацыі, калі б герб Вялікага Княства Літоўскага («Пагоня») зноў стаў дзяржаўным сімвалам Беларусі (як гэта было ў 1991-1995 гадах)?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089380" y="1168420"/>
            <a:ext cx="0" cy="3911620"/>
          </a:xfrm>
          <a:prstGeom prst="line">
            <a:avLst/>
          </a:prstGeom>
          <a:noFill/>
          <a:ln w="15240">
            <a:solidFill>
              <a:srgbClr val="C0C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89380" y="5080041"/>
            <a:ext cx="7162770" cy="0"/>
          </a:xfrm>
          <a:prstGeom prst="line">
            <a:avLst/>
          </a:prstGeom>
          <a:noFill/>
          <a:ln w="7620">
            <a:solidFill>
              <a:srgbClr val="EDF1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89380" y="1168420"/>
            <a:ext cx="0" cy="3911620"/>
          </a:xfrm>
          <a:prstGeom prst="line">
            <a:avLst/>
          </a:prstGeom>
          <a:noFill/>
          <a:ln w="15240">
            <a:solidFill>
              <a:srgbClr val="EDF1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84610" y="51307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5112685" y="1168420"/>
            <a:ext cx="0" cy="39116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7824" y="51307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5,0%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135898" y="1168420"/>
            <a:ext cx="0" cy="39116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31129" y="51307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159203" y="1168420"/>
            <a:ext cx="0" cy="39116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4342" y="51307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15,0%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182417" y="1168420"/>
            <a:ext cx="0" cy="39116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77647" y="51307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205722" y="1168420"/>
            <a:ext cx="0" cy="39116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00861" y="51307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25,0%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10228936" y="1168420"/>
            <a:ext cx="0" cy="39116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24166" y="51307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11252241" y="1168420"/>
            <a:ext cx="0" cy="39116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47380" y="51307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35,0%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089380" y="1298814"/>
            <a:ext cx="695858" cy="273771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1286104"/>
            <a:ext cx="3073390" cy="35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Teigiamai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Пазітыўна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835987" y="1308689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089380" y="1950690"/>
            <a:ext cx="3253984" cy="273771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1937979"/>
            <a:ext cx="3073390" cy="35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Greičiau teigiamai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Хутчэй пазітыўна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394113" y="1960656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15,9%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089380" y="2602657"/>
            <a:ext cx="3069732" cy="273771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2589947"/>
            <a:ext cx="3073390" cy="35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Greičiau neigiamai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Хутчэй негатыўна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7209953" y="2612532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15,0%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089380" y="3254624"/>
            <a:ext cx="6569324" cy="273771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241914"/>
            <a:ext cx="3073390" cy="35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Neigiamai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Негатыўна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0709544" y="3264499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32,1%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089380" y="3906500"/>
            <a:ext cx="3356305" cy="273771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893790"/>
            <a:ext cx="3073390" cy="35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tai nesvarbu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мяне гэта не мае значэння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7496526" y="3916467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16,4%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089380" y="4558467"/>
            <a:ext cx="3499500" cy="273771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545757"/>
            <a:ext cx="3073390" cy="35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7639721" y="4568342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17,1%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Kaip Jūs vertintumėte, jei herbas, paremtas LDK „Vyčiu“, vėl taptų Baltarusijos valstybiniu simboliu (teigiamai arba greičiau teigiamai)?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6842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бы вы паставіліся да сітуацыі, калі б герб ВКЛ «Пагоня» зноў стаў дзяржаўным сімвалам Беларусі (пазітыўна або хутчэй пазітыўна)?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15240">
            <a:solidFill>
              <a:srgbClr val="B1C1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3190" y="4572000"/>
            <a:ext cx="9702790" cy="0"/>
          </a:xfrm>
          <a:prstGeom prst="line">
            <a:avLst/>
          </a:prstGeom>
          <a:noFill/>
          <a:ln w="15240">
            <a:solidFill>
              <a:srgbClr val="E9E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90" y="447041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473190" y="402592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90" y="392433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473190" y="3479841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7390" y="3378159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473190" y="293367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7390" y="283208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473190" y="238759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390" y="228600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473190" y="184151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7390" y="173992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7390" y="1193841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60,0%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330440" y="1677650"/>
            <a:ext cx="711220" cy="289435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81280" y="1411011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53,0%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01840" y="441957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Vilnius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Вільнюс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4756160" y="1885218"/>
            <a:ext cx="711220" cy="268678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6909" y="1618488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49,2%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27560" y="441957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Kiti didieji miestai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Іншыя буйныя гарады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7181880" y="2212848"/>
            <a:ext cx="711220" cy="2359152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2630" y="1946118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43,2%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53280" y="441957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Kitas miestas, rajono centras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Іншы горад, раённы цэнтр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9607509" y="2152772"/>
            <a:ext cx="711220" cy="2419228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58350" y="1886041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44,3%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378909" y="441957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Kaimo vietovė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Сельская мясцовасць</a:t>
            </a:r>
            <a:endParaRPr lang="en-US" sz="8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kuriuo iš šių teiginių Jūs labiausiai sutinkate?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85800" y="118113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якім з гэтых сцвярджэнняў вы найбольш згодныя?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5029200"/>
            <a:ext cx="10820370" cy="30477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3434" y="5080041"/>
            <a:ext cx="3526566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85800" y="5384810"/>
            <a:ext cx="10820370" cy="3627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3559" y="5435559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Lietuvos Didžiosios Kunigaikštystės politinis ir kultūrinis paveldas priklauso tik lietuvių tautai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Палітычная і культурная спадчына Вялікага Княства Літоўскага належыць выключна літоўскаму народу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7827264" y="5439126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25,8%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5772882"/>
            <a:ext cx="10820370" cy="3627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3559" y="5823722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Lietuvos Didžiosios Kunigaikštystės politinis ir kultūrinis paveldas priklauso visoms tautoms, kurios joje gyveno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Палітычная і культурная спадчына Вялікага Княства Літоўскага належыць усім народам, якія там жылі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7827264" y="5827288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34,4%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6161044"/>
            <a:ext cx="10820370" cy="3627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559" y="6211794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Lietuvos Didžiosios Kunigaikštystės politinis ir kultūrinis paveldas priklauso lietuvių ir lenkų tautoms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Палітычная і культурная спадчына Вялікага Княства Літоўскага належыць літоўскаму і польскаму народу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7827264" y="6215360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6549116"/>
            <a:ext cx="10820370" cy="3627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559" y="6599956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Lietuvos Didžiosios Kunigaikštystės politinis ir kultūrinis paveldas priklauso lietuvių ir baltarusių tautoms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Палітычная і культурная спадчына Вялікага Княства Літоўскага належыць літоўскаму і беларускаму народу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7827264" y="6603522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3,6%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6937278"/>
            <a:ext cx="10820370" cy="3627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559" y="6988028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Nesutinku nė su vienu iš pateiktų teiginių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згодны ні з адным са сцвярджэнняў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7827264" y="6991594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7325350"/>
            <a:ext cx="10820370" cy="3627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3559" y="7376190"/>
            <a:ext cx="68366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7827264" y="7379757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20,7%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Pastaraisiais metais Lietuvoje vyko daug viešų diskusijų apie „litvinizmą“. Ar esate girdėję apie šias diskusijas?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219170"/>
            <a:ext cx="10820370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апошнія гады ў Літве адбылося шмат публічных дыскусій пра «літвінізм». Ці чулі вы пра гэтыя дыскусіі?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708441" y="1168420"/>
            <a:ext cx="0" cy="3911620"/>
          </a:xfrm>
          <a:prstGeom prst="line">
            <a:avLst/>
          </a:prstGeom>
          <a:noFill/>
          <a:ln w="15240">
            <a:solidFill>
              <a:srgbClr val="C0C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08441" y="5080041"/>
            <a:ext cx="7543800" cy="0"/>
          </a:xfrm>
          <a:prstGeom prst="line">
            <a:avLst/>
          </a:prstGeom>
          <a:noFill/>
          <a:ln w="7620">
            <a:solidFill>
              <a:srgbClr val="EDF1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08441" y="1168420"/>
            <a:ext cx="0" cy="3911620"/>
          </a:xfrm>
          <a:prstGeom prst="line">
            <a:avLst/>
          </a:prstGeom>
          <a:noFill/>
          <a:ln w="15240">
            <a:solidFill>
              <a:srgbClr val="EDF1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3580" y="51307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965741" y="1168420"/>
            <a:ext cx="0" cy="39116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0880" y="51307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223041" y="1168420"/>
            <a:ext cx="0" cy="39116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8180" y="51307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480341" y="1168420"/>
            <a:ext cx="0" cy="39116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5480" y="51307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737641" y="1168420"/>
            <a:ext cx="0" cy="39116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2780" y="51307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40,0%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994941" y="1168420"/>
            <a:ext cx="0" cy="39116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0080" y="51307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50,0%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11252241" y="1168420"/>
            <a:ext cx="0" cy="3911620"/>
          </a:xfrm>
          <a:prstGeom prst="line">
            <a:avLst/>
          </a:prstGeom>
          <a:noFill/>
          <a:ln w="6350">
            <a:solidFill>
              <a:srgbClr val="EDF1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47380" y="5130790"/>
            <a:ext cx="60963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60,0%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708441" y="1429207"/>
            <a:ext cx="3646170" cy="547634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1416497"/>
            <a:ext cx="2692359" cy="6238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Taip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405360" y="1575968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B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29,0%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708441" y="2733050"/>
            <a:ext cx="6890004" cy="547634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720340"/>
            <a:ext cx="2692359" cy="6238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0649194" y="2879811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54,8%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08441" y="4036893"/>
            <a:ext cx="2036826" cy="54763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024183"/>
            <a:ext cx="2692359" cy="6238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880" dirty="0"/>
          </a:p>
          <a:p>
            <a:pPr algn="r" indent="0" marL="0">
              <a:buNone/>
            </a:pPr>
            <a:r>
              <a:rPr lang="en-US" sz="8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5796016" y="4183746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16,2%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85800" y="1168420"/>
            <a:ext cx="10820370" cy="73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15240">
            <a:solidFill>
              <a:srgbClr val="B1C1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3190" y="5333970"/>
            <a:ext cx="9702790" cy="0"/>
          </a:xfrm>
          <a:prstGeom prst="line">
            <a:avLst/>
          </a:prstGeom>
          <a:noFill/>
          <a:ln w="15240">
            <a:solidFill>
              <a:srgbClr val="E9ED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390" y="5232380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0,0%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473190" y="4757075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90" y="4655485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473190" y="4180088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7390" y="4078498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20,0%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1473190" y="3603193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7390" y="3501603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30,0%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473190" y="3026207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7390" y="2924617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40,0%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473190" y="2449312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7390" y="2347722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50,0%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473190" y="1872325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7390" y="1770736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60,0%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1473190" y="1295430"/>
            <a:ext cx="9702790" cy="0"/>
          </a:xfrm>
          <a:prstGeom prst="line">
            <a:avLst/>
          </a:prstGeom>
          <a:noFill/>
          <a:ln w="7620">
            <a:solidFill>
              <a:srgbClr val="E9ED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7390" y="1193841"/>
            <a:ext cx="584210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70,0%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2330440" y="2726192"/>
            <a:ext cx="711220" cy="2607777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81280" y="2459553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45,2%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1840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Vilnius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Вільнюс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4756160" y="2178101"/>
            <a:ext cx="711220" cy="3155869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6909" y="1911462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54,7%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27560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Kiti didieji miestai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Іншыя буйныя гарады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7181880" y="1797345"/>
            <a:ext cx="711220" cy="3536625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2630" y="1530614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61,3%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53280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Kitas miestas, rajono centras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Іншы горад, раённы цэнтр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9607509" y="2097359"/>
            <a:ext cx="711220" cy="3236610"/>
          </a:xfrm>
          <a:prstGeom prst="rect">
            <a:avLst/>
          </a:prstGeom>
          <a:solidFill>
            <a:srgbClr val="8E1B2C"/>
          </a:solidFill>
          <a:ln w="12700">
            <a:solidFill>
              <a:srgbClr val="8E1B2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58350" y="1830629"/>
            <a:ext cx="6096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8E1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56,1%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378909" y="5181630"/>
            <a:ext cx="1168420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Kaimo vietovė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Сельская мясцовасць</a:t>
            </a:r>
            <a:endParaRPr lang="en-US" sz="8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Kuriuos iš žemiau išvardintų Baltarusijos kultūros veikėjų (rašytojų, intelektualų, muzikantų ir kt.) Jūs žinote?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85800" y="118113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Каго з пералічаных дзеячаў культуры Беларусі (пісьменнікаў, інтэлектуалаў, музыкаў і г.д.) вы ведаеце?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4826020"/>
            <a:ext cx="10820370" cy="30477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3434" y="4876770"/>
            <a:ext cx="3526566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85800" y="5181630"/>
            <a:ext cx="10820370" cy="3093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3559" y="5232380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Eufrosinija Polockaja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Ефрасіння Полацкая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827264" y="5209245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1,3%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5516392"/>
            <a:ext cx="10820370" cy="3093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3559" y="5567142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Pranciškus Skorina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Францыск Скарына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7827264" y="5544099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20,9%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5851154"/>
            <a:ext cx="10820370" cy="3093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559" y="5901903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Konstantinas (Kastusis) Kalinauskas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Кастусь Каліноўскі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7827264" y="5878860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25,8%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6185916"/>
            <a:ext cx="10820370" cy="3093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559" y="6236757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Jakubas Kolasas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Якуб Колас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7827264" y="6213622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6,6%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6520678"/>
            <a:ext cx="10820370" cy="3093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559" y="6571518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Janka Kupala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Янка Купала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7827264" y="6548384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25,2%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6855440"/>
            <a:ext cx="10820370" cy="3093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3559" y="6906280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Vladimiras Karatkevičius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Уладзімір Караткевіч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7827264" y="6883146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7190202"/>
            <a:ext cx="10820370" cy="3093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3559" y="7241042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Svetlana Aleksijevič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Святлана Алексіевіч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7827264" y="7217908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7524963"/>
            <a:ext cx="10820370" cy="3093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3559" y="7575804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Vseslavas Polockietis (Burtininkas)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Усяслаў Полацкі (Чарадзей)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7827264" y="7552670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2,6%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5800" y="7859817"/>
            <a:ext cx="10820370" cy="3093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3559" y="7910566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Vasilijus Bykovas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Васіль Быкаў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7827264" y="7887432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8,0%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" y="8194578"/>
            <a:ext cx="10820370" cy="3093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3559" y="8245328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Nežinau nė vieno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Нікога не ведаю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7827264" y="8222193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52,6%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85800" y="8529340"/>
            <a:ext cx="10820370" cy="3093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3559" y="8580090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7827264" y="8557047"/>
            <a:ext cx="3678906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4,5%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Kuriuos iš žemiau išvardintų Baltarusijos kultūros veikėjų (rašytojų, intelektualų, muzikantų ir kt.) Jūs žinote?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85800" y="118113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Каго з пералічаных дзеячаў культуры Беларусі (пісьменнікаў, інтэлектуалаў, музыкаў і г.д.) вы ведаеце?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4826020"/>
            <a:ext cx="10820370" cy="30477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03434" y="4876770"/>
            <a:ext cx="1687068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9742932" y="4876770"/>
            <a:ext cx="1687068" cy="2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685800" y="5181630"/>
            <a:ext cx="10820370" cy="3093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3559" y="5232380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Eufrosinija Polockaja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Ефрасіння Полацкая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7827264" y="5209245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66762" y="5209245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2,8%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5516392"/>
            <a:ext cx="10820370" cy="3093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3559" y="5567142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Pranciškus Skorina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Францыск Скарына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7827264" y="5544099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20,9%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66762" y="5544099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5851154"/>
            <a:ext cx="10820370" cy="3093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559" y="5901903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Konstantinas (Kastusis) Kalinauskas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Кастусь Каліноўскі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7827264" y="5878860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25,8%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66762" y="5878860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20,9%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6185916"/>
            <a:ext cx="10820370" cy="3093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559" y="6236757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Jakubas Kolasas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Якуб Колас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7827264" y="6213622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66762" y="6213622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6520678"/>
            <a:ext cx="10820370" cy="3093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3559" y="6571518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Janka Kupala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Янка Купала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7827264" y="6548384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25,2%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66762" y="6548384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12,7%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6855440"/>
            <a:ext cx="10820370" cy="3093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3559" y="6906280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Vladimiras Karatkevičius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Уладзімір Караткевіч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7827264" y="6883146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666762" y="6883146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5,2%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" y="7190202"/>
            <a:ext cx="10820370" cy="3093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3559" y="7241042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Svetlana Aleksijevič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Святлана Алексіевіч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7827264" y="7217908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666762" y="7217908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4,2%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5800" y="7524963"/>
            <a:ext cx="10820370" cy="3093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3559" y="7575804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Vseslavas Polockietis (Burtininkas)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Усяслаў Полацкі (Чарадзей)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7827264" y="7552670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2,6%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666762" y="7552670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2,8%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85800" y="7859817"/>
            <a:ext cx="10820370" cy="3093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3559" y="7910566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Vasilijus Bykovas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Васіль Быкаў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7827264" y="7887432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8,0%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666762" y="7887432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85800" y="8194578"/>
            <a:ext cx="10820370" cy="3093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3559" y="8245328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Nežinau nė vieno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Нікога не ведаю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7827264" y="8222193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52,6%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666762" y="8222193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65,0%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85800" y="8529340"/>
            <a:ext cx="10820370" cy="3093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3559" y="8580090"/>
            <a:ext cx="6836694" cy="207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Sunku pasakyti</a:t>
            </a:r>
            <a:endParaRPr lang="en-US" sz="780" dirty="0"/>
          </a:p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Цяжка сказаць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7827264" y="8557047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4,5%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666762" y="8557047"/>
            <a:ext cx="1839498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7,3%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Kuriuos iš žemiau išvardintų Baltarusijos kultūros veikėjų Jūs žinote?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85800" y="118113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Каго з пералічаных дзеячаў культуры Беларусі вы ведаеце?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4749759"/>
            <a:ext cx="10820370" cy="53337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21424" y="4800600"/>
            <a:ext cx="799826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18-25 m.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18-25 г.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7773589" y="4800600"/>
            <a:ext cx="799826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26-35 m.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26-35 г.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8725845" y="4800600"/>
            <a:ext cx="799826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36-45 m.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36-45 г.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9678010" y="4800600"/>
            <a:ext cx="799826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46-55 m.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46-55 г.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630174" y="4800600"/>
            <a:ext cx="799826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56+ m.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56+ г.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85800" y="5333970"/>
            <a:ext cx="10820370" cy="3627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3559" y="5384810"/>
            <a:ext cx="57545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Pranciškus Skorina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Францыск Скарына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6745254" y="5388376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11,1%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97419" y="5388376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8,6%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49584" y="5388376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17,9%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840" y="5388376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15,9%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554005" y="5388376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36,5%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5722132"/>
            <a:ext cx="10820370" cy="3627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3559" y="5772882"/>
            <a:ext cx="57545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Janka Kupala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Янка Купала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6745254" y="5776448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97419" y="5776448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10,2%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49584" y="5776448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15,6%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1840" y="5776448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19,6%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54005" y="5776448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48,6%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6110204"/>
            <a:ext cx="10820370" cy="3627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3559" y="6161044"/>
            <a:ext cx="57545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Konstantinas (Kastusis) Kalinauskas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Кастусь Каліноўскі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6745254" y="6164610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13,3%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97419" y="6164610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12,4%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49584" y="6164610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21,2%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601840" y="6164610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24,8%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554005" y="6164610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41,0%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" y="6498366"/>
            <a:ext cx="10820370" cy="3627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3559" y="6549116"/>
            <a:ext cx="57545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Svetlana Aleksijevič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Святлана Алексіевіч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6745254" y="6552682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6,7%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97419" y="6552682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7,5%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649584" y="6552682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9,4%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601840" y="6552682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9,8%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554005" y="6552682"/>
            <a:ext cx="952165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23,5%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3019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Kuriuos iš žemiau išvardintų Baltarusijos kultūros veikėjų Jūs žinote?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85800" y="1181130"/>
            <a:ext cx="10820370" cy="7492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Каго з пералічаных дзеячаў культуры Беларусі вы ведаеце?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4749759"/>
            <a:ext cx="10820370" cy="53337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21424" y="4800600"/>
            <a:ext cx="1037844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Vilnius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Вільнюс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8011698" y="4800600"/>
            <a:ext cx="1037844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Kiti didieji miestai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Іншыя буйныя гарады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9201882" y="4800600"/>
            <a:ext cx="1037844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Kitas miestas,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rajono centras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Іншы горад,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раённы цэнтр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392156" y="4800600"/>
            <a:ext cx="1037844" cy="43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Kaimo vietovė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Сельская мясцовасць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685800" y="5333970"/>
            <a:ext cx="10820370" cy="3627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3559" y="5384810"/>
            <a:ext cx="57545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Pranciškus Skorina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Францыск Скарына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6745254" y="5388376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35438" y="5388376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16,9%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25712" y="5388376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17,3%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315986" y="5388376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17,1%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5722132"/>
            <a:ext cx="10820370" cy="3627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559" y="5772882"/>
            <a:ext cx="57545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Janka Kupala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Янка Купала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745254" y="5776448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31,8%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935438" y="5776448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24,4%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25712" y="5776448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22,6%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315986" y="5776448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23,2%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6110204"/>
            <a:ext cx="10820370" cy="362742"/>
          </a:xfrm>
          <a:prstGeom prst="rect">
            <a:avLst/>
          </a:prstGeom>
          <a:solidFill>
            <a:srgbClr val="D7DFE7"/>
          </a:solidFill>
          <a:ln w="12700">
            <a:solidFill>
              <a:srgbClr val="D7DFE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3559" y="6161044"/>
            <a:ext cx="57545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Konstantinas (Kastusis) Kalinauskas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Кастусь Каліноўскі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6745254" y="6164610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37,3%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935438" y="6164610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24,0%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25712" y="6164610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24,4%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315986" y="6164610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19,6%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6498366"/>
            <a:ext cx="10820370" cy="362742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3559" y="6549116"/>
            <a:ext cx="5754594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Svetlana Aleksijevič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Святлана Алексіевіч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745254" y="6552682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18,4%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35438" y="6552682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13,0%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25712" y="6552682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12,4%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315986" y="6552682"/>
            <a:ext cx="1190274" cy="25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10,4%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Lithuania 2026 redesign</dc:title>
  <dc:subject>Lithuania 2026 redesign</dc:subject>
  <dc:creator>Codex</dc:creator>
  <cp:lastModifiedBy>Codex</cp:lastModifiedBy>
  <cp:revision>1</cp:revision>
  <dcterms:created xsi:type="dcterms:W3CDTF">2026-03-20T06:17:34Z</dcterms:created>
  <dcterms:modified xsi:type="dcterms:W3CDTF">2026-03-20T06:17:34Z</dcterms:modified>
</cp:coreProperties>
</file>